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34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425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14B8A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深度集成设计方案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B0C4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 Spec-Driven Development 为主线，构建需求、设计、任务、实现与验证的闭环研发体系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675120" y="146304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E3A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675120" y="1517904"/>
            <a:ext cx="73152" cy="80467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6949440" y="1600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双模式执行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49440" y="1920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 IDE CLI + 云端 Custom Agent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675120" y="260604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E3A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6675120" y="2660904"/>
            <a:ext cx="73152" cy="80467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949440" y="2743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个 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49440" y="3063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覆盖 SDD 全部关键阶段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3749040"/>
            <a:ext cx="4846320" cy="914400"/>
          </a:xfrm>
          <a:prstGeom prst="roundRect">
            <a:avLst>
              <a:gd name="adj" fmla="val 6000"/>
            </a:avLst>
          </a:prstGeom>
          <a:solidFill>
            <a:srgbClr val="1E3A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675120" y="3803904"/>
            <a:ext cx="73152" cy="8046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949440" y="38862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统一产出层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949440" y="42062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4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Issues / Projects / Milestones / PRs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40080" y="53035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Draft v1.0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783080" y="53035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4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2026-03-10  ·  战略方案汇报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战略方案汇报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背景与目标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先回答为什么要做，以及这套方案最终要解决什么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607040" y="420624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07040" y="42062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 Now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29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28163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当前痛点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3044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需求文档、Issue、任务拆解和实现 PR 之间缺乏统一链路，AI 能力难以进入标准流程。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670048"/>
            <a:ext cx="304495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需求变化难同步到执行层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 与技术方案脱节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生成结果缺乏可追溯性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51960" y="1554480"/>
            <a:ext cx="342900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251960" y="1609344"/>
            <a:ext cx="73152" cy="281635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471416" y="1682496"/>
            <a:ext cx="3044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方案目标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71416" y="1993392"/>
            <a:ext cx="30449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 Spec Kit 规范化产物与 GitHub Platform 协作对象打通，形成从需求到交付的闭环。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471416" y="2670048"/>
            <a:ext cx="304495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 spec / plan / tasks / PR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支持本地与云端两种执行方式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 Coding Agent 进入交付流程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863840" y="1554480"/>
            <a:ext cx="36118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7863840" y="1609344"/>
            <a:ext cx="73152" cy="28163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083296" y="1682496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成功标准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83296" y="1993392"/>
            <a:ext cx="32278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团队可以用相同规则定义需求、拆解任务、指派 AI 执行，并在 GitHub 上追踪全过程。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83296" y="2670048"/>
            <a:ext cx="3227832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Feature 追踪到 Epic / Story / Task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可直接指派给 Copilot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 与验收标准一一对应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4754880"/>
            <a:ext cx="10911535" cy="868680"/>
          </a:xfrm>
          <a:prstGeom prst="roundRect">
            <a:avLst>
              <a:gd name="adj" fmla="val 6316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40080" y="4809744"/>
            <a:ext cx="73152" cy="75895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59536" y="488289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核心判断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59536" y="5193792"/>
            <a:ext cx="1052748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不是再引入一个工具，而是把 Spec Kit 作为上游"规范生成器"，把 GitHub 作为下游"统一执行与协作平台"。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总体架构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 → 自动化层 → 统一产出层，路径 A / B / C 共用同一套映射规则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875520" y="420624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75520" y="42062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0911535" cy="1005840"/>
          </a:xfrm>
          <a:prstGeom prst="roundRect">
            <a:avLst>
              <a:gd name="adj" fmla="val 5455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89611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 Platform 统一产出层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1052748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Issues（Epic / Story / Task） ·  Projects（状态与优先级） ·  Milestones（版本） ·  PRs（实现与评审）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71600" y="2834640"/>
            <a:ext cx="9448495" cy="822960"/>
          </a:xfrm>
          <a:prstGeom prst="roundRect">
            <a:avLst>
              <a:gd name="adj" fmla="val 6667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1371600" y="2889504"/>
            <a:ext cx="73152" cy="71323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591056" y="2962656"/>
            <a:ext cx="9064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 Actions 自动化编排层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91056" y="3273552"/>
            <a:ext cx="90644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specs/ 变更触发同步  ·  Task merge 后批量 assign Copilot  ·  PR merge 后自动关闭任务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 rot="10800000">
            <a:off x="4069080" y="260604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 rot="10800000">
            <a:off x="5989320" y="260604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 rot="10800000">
            <a:off x="7909560" y="260604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3931920"/>
            <a:ext cx="3484778" cy="1828800"/>
          </a:xfrm>
          <a:prstGeom prst="roundRect">
            <a:avLst>
              <a:gd name="adj" fmla="val 3000"/>
            </a:avLst>
          </a:prstGeom>
          <a:solidFill>
            <a:srgbClr val="F0FAFA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640080" y="3986784"/>
            <a:ext cx="73152" cy="171907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9536" y="4059936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A · IDE CLI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59536" y="4370832"/>
            <a:ext cx="3100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/speckit.* 命令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specs/ 文件产物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同步到 GitHub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91029" y="370332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4353458" y="3931920"/>
            <a:ext cx="3484778" cy="1828800"/>
          </a:xfrm>
          <a:prstGeom prst="roundRect">
            <a:avLst>
              <a:gd name="adj" fmla="val 3000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4353458" y="3986784"/>
            <a:ext cx="73152" cy="171907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4572914" y="4059936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B · Custom Agent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914" y="4370832"/>
            <a:ext cx="3100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GitHub.com Agent Tab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直接生成 spec / issue / PR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无需本地环境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04408" y="370332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8066837" y="3931920"/>
            <a:ext cx="3484778" cy="1828800"/>
          </a:xfrm>
          <a:prstGeom prst="roundRect">
            <a:avLst>
              <a:gd name="adj" fmla="val 3000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066837" y="3986784"/>
            <a:ext cx="73152" cy="171907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286293" y="4059936"/>
            <a:ext cx="310073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C · Hybrid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286293" y="4370832"/>
            <a:ext cx="310073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生成规范产物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 执行拆解与实现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推荐落地方式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9717786" y="3703320"/>
            <a:ext cx="201168" cy="201168"/>
          </a:xfrm>
          <a:prstGeom prst="triangl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双模式执行路径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A 与路径 B 不互斥，路径 C 是推荐落地方式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01200" y="420624"/>
            <a:ext cx="169164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601200" y="420624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Execution Modes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84778" cy="4434840"/>
          </a:xfrm>
          <a:prstGeom prst="roundRect">
            <a:avLst>
              <a:gd name="adj" fmla="val 1574"/>
            </a:avLst>
          </a:prstGeom>
          <a:solidFill>
            <a:srgbClr val="F0FAFA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432511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A · IDE CLI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3100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适合架构师与开发人员在本地反复推演。通过 /speckit.* 命令生成规范产物，再同步到 GitHub。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670048"/>
            <a:ext cx="310073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本地可控，适合深度设计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依赖 CLI 与扩展能力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更适合生成长期维护文档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支持离线场景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3458" y="1554480"/>
            <a:ext cx="3484778" cy="4434840"/>
          </a:xfrm>
          <a:prstGeom prst="roundRect">
            <a:avLst>
              <a:gd name="adj" fmla="val 1574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53458" y="1609344"/>
            <a:ext cx="73152" cy="432511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914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B · Custom Agent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914" y="1993392"/>
            <a:ext cx="3100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适合产品经理、项目经理及分布式团队直接在 GitHub.com 上发起需求、拆解任务并让 Coding Agent 执行。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914" y="2670048"/>
            <a:ext cx="3100730" cy="3191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无需本地环境，门槛更低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更贴近 Issue / PR 协作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非研发角色可直接使用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原生执行链路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6837" y="1554480"/>
            <a:ext cx="3484778" cy="4434840"/>
          </a:xfrm>
          <a:prstGeom prst="roundRect">
            <a:avLst>
              <a:gd name="adj" fmla="val 1574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066837" y="1609344"/>
            <a:ext cx="73152" cy="432511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86293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C · Hybrid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6293" y="1993392"/>
            <a:ext cx="310073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把高思考密度活动放在本地，把高协作密度活动放在 GitHub。共享统一映射规则与产物格式。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86293" y="2596896"/>
            <a:ext cx="310073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Constitution/Plan 偏本地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Specify/Tasks/Implement 偏云端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交付效率与治理能力兼得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推荐的生产模式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推荐的混合模式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不是二选一，而是把不同角色放到最适合的工作位置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692640" y="420624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692640" y="4206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Best Practice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91640"/>
            <a:ext cx="1441225" cy="24688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91640"/>
            <a:ext cx="1441225" cy="54864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14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Constitution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423160"/>
            <a:ext cx="13497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架构师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63513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063513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81305" y="24231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218465" y="1691640"/>
            <a:ext cx="1441225" cy="24688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2218465" y="1691640"/>
            <a:ext cx="1441225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2218465" y="1874520"/>
            <a:ext cx="14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Specify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264185" y="2423160"/>
            <a:ext cx="13497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641898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2641898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9690" y="24231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796850" y="1691640"/>
            <a:ext cx="1441225" cy="24688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3796850" y="1691640"/>
            <a:ext cx="1441225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796850" y="1874520"/>
            <a:ext cx="14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Clarify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2570" y="2423160"/>
            <a:ext cx="13497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PM/架构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220283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220283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38075" y="24231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375235" y="1691640"/>
            <a:ext cx="1441225" cy="24688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5375235" y="1691640"/>
            <a:ext cx="1441225" cy="54864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375235" y="1874520"/>
            <a:ext cx="14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Plan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20955" y="2423160"/>
            <a:ext cx="13497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架构师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798668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798668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A/B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6460" y="24231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953620" y="1691640"/>
            <a:ext cx="1441225" cy="24688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6953620" y="1691640"/>
            <a:ext cx="1441225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6953620" y="1874520"/>
            <a:ext cx="14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99340" y="2423160"/>
            <a:ext cx="13497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PMO/架构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377053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377053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394845" y="24231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8532005" y="1691640"/>
            <a:ext cx="1441225" cy="24688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4" name="Shape 42"/>
          <p:cNvSpPr/>
          <p:nvPr/>
        </p:nvSpPr>
        <p:spPr>
          <a:xfrm>
            <a:off x="8532005" y="1691640"/>
            <a:ext cx="1441225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532005" y="1874520"/>
            <a:ext cx="14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Implement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577725" y="2423160"/>
            <a:ext cx="13497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开发+AI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955438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955438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9973230" y="242316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10110390" y="1691640"/>
            <a:ext cx="1441225" cy="2468880"/>
          </a:xfrm>
          <a:prstGeom prst="roundRect">
            <a:avLst>
              <a:gd name="adj" fmla="val 3172"/>
            </a:avLst>
          </a:prstGeom>
          <a:solidFill>
            <a:srgbClr val="FFFFFF"/>
          </a:solidFill>
          <a:ln/>
          <a:effectLst>
            <a:outerShdw blurRad="25400" dist="12700" dir="8100000" algn="bl" rotWithShape="0">
              <a:srgbClr val="8899AA">
                <a:alpha val="6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1" name="Shape 49"/>
          <p:cNvSpPr/>
          <p:nvPr/>
        </p:nvSpPr>
        <p:spPr>
          <a:xfrm>
            <a:off x="10110390" y="1691640"/>
            <a:ext cx="1441225" cy="54864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0110390" y="1874520"/>
            <a:ext cx="14412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Verify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0156110" y="2423160"/>
            <a:ext cx="13497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全员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533823" y="3337560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0533823" y="333756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40080" y="4617720"/>
            <a:ext cx="10911535" cy="0"/>
          </a:xfrm>
          <a:prstGeom prst="line">
            <a:avLst/>
          </a:prstGeom>
          <a:noFill/>
          <a:ln w="25400">
            <a:solidFill>
              <a:srgbClr val="E9C46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640080" y="4892040"/>
            <a:ext cx="10911535" cy="822960"/>
          </a:xfrm>
          <a:prstGeom prst="roundRect">
            <a:avLst>
              <a:gd name="adj" fmla="val 6667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8" name="Shape 56"/>
          <p:cNvSpPr/>
          <p:nvPr/>
        </p:nvSpPr>
        <p:spPr>
          <a:xfrm>
            <a:off x="640080" y="4946904"/>
            <a:ext cx="73152" cy="71323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59536" y="502005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推荐原因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859536" y="5330952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把"高治理、高结构化"的活动前置到 Spec / Plan，把"高协作、高并行"的活动后置到 Issue / Task / PR。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团队角色与职责分工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用角色定义保障方案可落地，而不是只有工具没有责任边界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875520" y="42062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75520" y="420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Team Model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31860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208483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493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产品经理（PM）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需求定义与验收守门人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432304"/>
            <a:ext cx="493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需求定义 → speckit-specify Agent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需求评审 → Review spec PR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需求澄清 → 回复 clarification Issues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优先级排序 → Project Board 管理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验收确认 → 对照标准验收 PR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1554480"/>
            <a:ext cx="531860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33008" y="1609344"/>
            <a:ext cx="73152" cy="208483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52464" y="1682496"/>
            <a:ext cx="493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项目经理（PMO）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2464" y="1993392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进度管控与资源协调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52464" y="2432304"/>
            <a:ext cx="493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流程编排 → 推动各阶段 PR Review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进度追踪 → Project Board 监控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Milestone 管理 → 关联版本与截止日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资源调度 → assign Copilot / 开发者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风险管理 → 识别 blocked 与滞留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023360"/>
            <a:ext cx="531860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4078224"/>
            <a:ext cx="73152" cy="20848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9536" y="4151376"/>
            <a:ext cx="493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架构师（Architect）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59536" y="4462272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技术决策与质量保障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59536" y="4901184"/>
            <a:ext cx="493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项目原则 → constitution.md 制定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技术方案 → plan.md 设计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数据建模 → data-model / contracts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架构评审 → 关键 PR Review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Copilot 指导 → copilot-instructions.md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33008" y="4023360"/>
            <a:ext cx="5318608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6233008" y="4078224"/>
            <a:ext cx="73152" cy="208483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452464" y="4151376"/>
            <a:ext cx="493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开发人员（Developer）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52464" y="4462272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代码实现与质量防线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52464" y="4901184"/>
            <a:ext cx="493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任务实现 → 按 Task Issue 编码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辅助 → speckit-implement Agent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测试编写 → 围绕验收标准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代码审查 → Review AI 生成的 PR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需求反馈 → 创建 clarification Issue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 × SDD 阶段职责矩阵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RACI 明确谁负责执行、谁审批、谁咨询、谁被知会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607040" y="420624"/>
            <a:ext cx="68580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607040" y="42062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RACI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72768"/>
          <a:ext cx="7315200" cy="42062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673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阶段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产品经理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项目经理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架构师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开发人员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Constitution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Specify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Clarify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Plan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Analyze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Tasks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Implement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65F46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7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Verify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6B728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E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E40A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36576" marR="36576"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8321040" y="1572768"/>
            <a:ext cx="320040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8321040" y="1627632"/>
            <a:ext cx="73152" cy="126187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8540496" y="1700784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RACI 说明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40496" y="2011680"/>
            <a:ext cx="28163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= Responsible 执行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 = Accountable 审批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 = Consulted 咨询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 = Informed 知会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3154680"/>
            <a:ext cx="320040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8321040" y="3209544"/>
            <a:ext cx="73152" cy="107899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8540496" y="328269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管理含义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540496" y="3593592"/>
            <a:ext cx="28163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需求由产品负责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方案由架构负责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执行由开发负责</a:t>
            </a:r>
            <a:endParaRPr lang="en-US" sz="11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节奏由项目经理推动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4572000"/>
            <a:ext cx="3200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8321040" y="4626864"/>
            <a:ext cx="73152" cy="9875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8540496" y="4700016"/>
            <a:ext cx="2816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落地建议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40496" y="5010912"/>
            <a:ext cx="2816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将角色映射到 Agent 和 GitHub 权限，避免"人人都能做，最终没人负责"。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 Agent 设计（上游）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 3 个 Agent 负责把模糊需求转成结构化规范与技术方案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875520" y="42062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75520" y="420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 1/2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84778" cy="4389120"/>
          </a:xfrm>
          <a:prstGeom prst="roundRect">
            <a:avLst>
              <a:gd name="adj" fmla="val 1574"/>
            </a:avLst>
          </a:prstGeom>
          <a:solidFill>
            <a:srgbClr val="F0FAFA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427939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speckit-constitution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310073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角色：项目原则制定者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输入：现有代码库与团队约束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输出：constitution.md + copilot-instructions.md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871216"/>
            <a:ext cx="310073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定义编码、测试、架构准则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沉淀为仓库可执行规则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控制 AI 生成的边界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3458" y="1554480"/>
            <a:ext cx="3484778" cy="4389120"/>
          </a:xfrm>
          <a:prstGeom prst="roundRect">
            <a:avLst>
              <a:gd name="adj" fmla="val 1574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53458" y="1609344"/>
            <a:ext cx="73152" cy="427939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914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speckit-specify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914" y="1993392"/>
            <a:ext cx="310073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角色：需求规格生成器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输入：自然语言需求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输出：spec.md + Epic/Story Issues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914" y="2871216"/>
            <a:ext cx="3100730" cy="294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自动识别用户故事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生成验收标准与 clarifications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直接落地到 GitHub Issues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6837" y="1554480"/>
            <a:ext cx="3484778" cy="4389120"/>
          </a:xfrm>
          <a:prstGeom prst="roundRect">
            <a:avLst>
              <a:gd name="adj" fmla="val 1574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066837" y="1609344"/>
            <a:ext cx="73152" cy="42793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86293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speckit-plan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6293" y="1993392"/>
            <a:ext cx="31007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角色：技术方案规划师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输入：spec.md + constitution.md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输出：plan.md、data-model、contracts/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83550" y="2871216"/>
            <a:ext cx="310073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输出技术决策和约束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创建 Milestone 与 Project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为任务拆解提供上下文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 Agent 设计（下游）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 3 个 Agent 负责把技术方案变成可执行任务，驱动 Coding Agent 进入交付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875520" y="420624"/>
            <a:ext cx="128016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75520" y="42062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Agents 2/2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3484778" cy="4389120"/>
          </a:xfrm>
          <a:prstGeom prst="roundRect">
            <a:avLst>
              <a:gd name="adj" fmla="val 1574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42793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speckit-tasks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31007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角色：任务拆解器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输入：plan.md + contracts + data-model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输出：tasks.md + Task Issues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3072384"/>
            <a:ext cx="310073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识别依赖与并行标记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copilot-eligible 标签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 body 注入实现上下文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53458" y="1554480"/>
            <a:ext cx="3484778" cy="4389120"/>
          </a:xfrm>
          <a:prstGeom prst="roundRect">
            <a:avLst>
              <a:gd name="adj" fmla="val 1574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4353458" y="1609344"/>
            <a:ext cx="73152" cy="427939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4572914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speckit-implement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914" y="1993392"/>
            <a:ext cx="310073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角色：实现执行器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输入：tasks.md + spec / plan / constitution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输出：代码 PR + 测试 + Issue 更新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914" y="2999232"/>
            <a:ext cx="310073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按照任务顺序执行实现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自动更新 Task Issue 状态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围绕验收标准生成代码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066837" y="1554480"/>
            <a:ext cx="3484778" cy="4389120"/>
          </a:xfrm>
          <a:prstGeom prst="roundRect">
            <a:avLst>
              <a:gd name="adj" fmla="val 1574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066837" y="1609344"/>
            <a:ext cx="73152" cy="427939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286293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speckit-orchestrator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86293" y="1993392"/>
            <a:ext cx="310073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角色：流程编排器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输入：需求描述或阶段入口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输出：串联各 Agent 执行路径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86293" y="2999232"/>
            <a:ext cx="3100730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适合阶段编排和门控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成熟后可叠加 Actions 调度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一键启动完整 SDD 流程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 对象映射规则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每份产物都能落到 GitHub 的一个可执行对象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241280" y="420624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0" y="420624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Mapping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2052621"/>
              </p:ext>
            </p:extLst>
          </p:nvPr>
        </p:nvGraphicFramePr>
        <p:xfrm>
          <a:off x="640080" y="1572768"/>
          <a:ext cx="10911535" cy="292608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224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Spec / Tasks 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GitHub 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charset="0"/>
                        </a:rPr>
                        <a:t>Rules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Feature Title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Epic Issue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[Spec] Feature NNN: &lt;name&gt;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User Stories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Story Issues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 “As a...” </a:t>
                      </a:r>
                      <a:r>
                        <a:rPr lang="zh-CN" alt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：</a:t>
                      </a: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Issue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Acceptance Criteria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Issue Task List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 [ ] checklist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[NEEDS CLARIFICATION]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Clarification Issue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 needs-clarification label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tasks.md Task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Task Issue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Sub-Issue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Phase 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Label / Project 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phase-N / SDD Phase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plan.md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Milestone / Project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T="36576" marB="36576" anchor="ctr">
                    <a:lnL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7DE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120640"/>
            <a:ext cx="5318608" cy="822960"/>
          </a:xfrm>
          <a:prstGeom prst="roundRect">
            <a:avLst>
              <a:gd name="adj" fmla="val 6667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7"/>
          <p:cNvSpPr/>
          <p:nvPr/>
        </p:nvSpPr>
        <p:spPr>
          <a:xfrm>
            <a:off x="640080" y="5175504"/>
            <a:ext cx="73152" cy="71323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8"/>
          <p:cNvSpPr/>
          <p:nvPr/>
        </p:nvSpPr>
        <p:spPr>
          <a:xfrm>
            <a:off x="859536" y="5248656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关键幂等策略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59536" y="5559552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Issue body 写入 &lt;!-- spec-kit:feature-NNN:task-M --&gt; 元数据，避免多次同步重复创建。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3008" y="5120640"/>
            <a:ext cx="5318608" cy="822960"/>
          </a:xfrm>
          <a:prstGeom prst="roundRect">
            <a:avLst>
              <a:gd name="adj" fmla="val 6667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6233008" y="5175504"/>
            <a:ext cx="73152" cy="71323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452464" y="5248656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 Coding Agent 的价值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52464" y="5559552"/>
            <a:ext cx="493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 Task Issue 天然携带 spec / plan / contracts 上下文，提升生成质量。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端到端工作流示例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从需求提出到交付的完整过程，说明人、Agent、GitHub 三者如何协作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058400" y="42062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58400" y="420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24D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Workflow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718272" y="164592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718272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1031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需求输入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4231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PM 在 Agent Tab 选择 speckit-specify，输入业务需求描述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62224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514736" y="1645920"/>
            <a:ext cx="365760" cy="36576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14736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36544" y="21031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生成 Spec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7984" y="24231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spec.md + Epic/Story Issues，发起 PR 供团队评审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58688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1200" y="164592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311200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33008" y="21031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方案设计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24448" y="24231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架构师运行 speckit-plan，补齐 plan / data-model / contracts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55151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0107663" y="1645920"/>
            <a:ext cx="365760" cy="36576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107663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29471" y="2103120"/>
            <a:ext cx="252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任务拆解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20911" y="2423160"/>
            <a:ext cx="23392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speckit-tasks 生成 tasks.md 并批量创建 Task Issues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58688" y="31546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↓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2184349" y="3566160"/>
            <a:ext cx="365760" cy="36576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2184349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40080" y="402336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指派实现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31520" y="4343400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项目经理把 copilot-eligible 任务 assign 给 Copilot Agent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94378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5912968" y="3566160"/>
            <a:ext cx="365760" cy="36576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5912968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368698" y="402336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 PR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60138" y="4343400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speckit-implement 执行实现，生成代码和测试 PR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822997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9C46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641586" y="3566160"/>
            <a:ext cx="365760" cy="36576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9641586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97317" y="4023360"/>
            <a:ext cx="34542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验收关闭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88757" y="4343400"/>
            <a:ext cx="32714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产品/架构/开发 Review，Merge 后自动关闭 Task Issue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40080" y="5212080"/>
            <a:ext cx="10911535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640080" y="5266944"/>
            <a:ext cx="73152" cy="62179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859536" y="534009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核心闭环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59536" y="5650992"/>
            <a:ext cx="105274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需求不是在文档里结束，而是在 Issue / Task / PR 链路中被逐步验证，最终由验收标准回收。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实施路线图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分五个阶段推进，优先实现成本更低、价值更高的路径 B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058400" y="420624"/>
            <a:ext cx="114300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58400" y="420624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Roadmap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700784"/>
            <a:ext cx="73152" cy="235915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822960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822960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22960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Custom Agent 定义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定义 6 个 .agent.md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完成核心 prompt 设计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520922" y="4480560"/>
            <a:ext cx="274320" cy="274320"/>
          </a:xfrm>
          <a:prstGeom prst="ellipse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520922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858963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2858963" y="1700784"/>
            <a:ext cx="73152" cy="235915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3041843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3041843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41843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Extension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041843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实现 /speckit.gh-sync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→ GitHub 同步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739805" y="4480560"/>
            <a:ext cx="274320" cy="274320"/>
          </a:xfrm>
          <a:prstGeom prst="ellipse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3739805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77846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5077846" y="1700784"/>
            <a:ext cx="73152" cy="235915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5260726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5260726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60726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Actions 自动化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60726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变更同步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Task 自动 assign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 自动关单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958688" y="4480560"/>
            <a:ext cx="274320" cy="274320"/>
          </a:xfrm>
          <a:prstGeom prst="ellipse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5958688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96729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296729" y="1700784"/>
            <a:ext cx="73152" cy="235915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7479609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7479609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4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479609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Projects 模板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479609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构建 Board/Table 视图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字段规范化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177571" y="4480560"/>
            <a:ext cx="274320" cy="274320"/>
          </a:xfrm>
          <a:prstGeom prst="ellipse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177571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9515612" y="1645920"/>
            <a:ext cx="2036003" cy="2468880"/>
          </a:xfrm>
          <a:prstGeom prst="roundRect">
            <a:avLst>
              <a:gd name="adj" fmla="val 2695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9515612" y="1700784"/>
            <a:ext cx="73152" cy="2359152"/>
          </a:xfrm>
          <a:prstGeom prst="rect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9698492" y="1828800"/>
            <a:ext cx="777240" cy="256032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9698492" y="18288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Phase 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9698492" y="2212848"/>
            <a:ext cx="167024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验证与推广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698492" y="2560320"/>
            <a:ext cx="1670243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试点运行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幂等验证</a:t>
            </a:r>
            <a:endParaRPr lang="en-US" sz="1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文档沉淀与推广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396454" y="4480560"/>
            <a:ext cx="274320" cy="274320"/>
          </a:xfrm>
          <a:prstGeom prst="ellipse">
            <a:avLst/>
          </a:prstGeom>
          <a:solidFill>
            <a:srgbClr val="E9C46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10396454" y="4480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658082" y="4617720"/>
            <a:ext cx="8875532" cy="0"/>
          </a:xfrm>
          <a:prstGeom prst="line">
            <a:avLst/>
          </a:prstGeom>
          <a:noFill/>
          <a:ln w="254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640080" y="5120640"/>
            <a:ext cx="10911535" cy="822960"/>
          </a:xfrm>
          <a:prstGeom prst="roundRect">
            <a:avLst>
              <a:gd name="adj" fmla="val 6667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640080" y="5175504"/>
            <a:ext cx="73152" cy="71323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59536" y="524865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优先级建议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859536" y="5559552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先做路径 B：仅需 .agent.md + prompt 工程即可验证核心价值；路径 A 与 Actions 作为增量增强。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验证方案与关键风险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同时证明"能跑通"和"可持续"，验证与风险要一起设计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10911535" cy="0"/>
          </a:xfrm>
          <a:prstGeom prst="line">
            <a:avLst/>
          </a:prstGeom>
          <a:noFill/>
          <a:ln w="12700">
            <a:solidFill>
              <a:srgbClr val="D7DE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9875520" y="420624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75520" y="42062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5318608" cy="3474720"/>
          </a:xfrm>
          <a:prstGeom prst="roundRect">
            <a:avLst>
              <a:gd name="adj" fmla="val 1579"/>
            </a:avLst>
          </a:prstGeom>
          <a:solidFill>
            <a:srgbClr val="EFFAF8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640080" y="1609344"/>
            <a:ext cx="73152" cy="33649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59536" y="1682496"/>
            <a:ext cx="493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验证方案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59536" y="1993392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建议在测试仓库按最短路径完成 4 类验证：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59536" y="2432304"/>
            <a:ext cx="493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Custom Agent 验证：specify / plan / tasks / implement 依次跑通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CLI 同步验证：/speckit.gh-sync 正确创建或更新对象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幂等验证：多次同步不重复创建 Issue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混合模式验证：A 生成 spec，B 读取并创建 tasks 与 PR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33008" y="1554480"/>
            <a:ext cx="5318608" cy="3474720"/>
          </a:xfrm>
          <a:prstGeom prst="roundRect">
            <a:avLst>
              <a:gd name="adj" fmla="val 1579"/>
            </a:avLst>
          </a:prstGeom>
          <a:solidFill>
            <a:srgbClr val="FFF5F1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233008" y="1609344"/>
            <a:ext cx="73152" cy="336499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52464" y="1682496"/>
            <a:ext cx="493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关键风险与限制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52464" y="1993392"/>
            <a:ext cx="493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需要关注的技术与流程风险：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52464" y="2432304"/>
            <a:ext cx="49345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GitHub.com 当前不完整支持 Agent handoffs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github/* 写权限依赖仓库配置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双向同步先不做，避免复杂度过早上升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跨仓库协同与 Packages/Releases 暂不纳入一期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5303520"/>
            <a:ext cx="10911535" cy="731520"/>
          </a:xfrm>
          <a:prstGeom prst="roundRect">
            <a:avLst>
              <a:gd name="adj" fmla="val 7500"/>
            </a:avLst>
          </a:prstGeom>
          <a:solidFill>
            <a:srgbClr val="EEF3F7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640080" y="5358384"/>
            <a:ext cx="73152" cy="621792"/>
          </a:xfrm>
          <a:prstGeom prst="rect">
            <a:avLst/>
          </a:prstGeom>
          <a:solidFill>
            <a:srgbClr val="17324D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9536" y="5431536"/>
            <a:ext cx="1052748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判断标准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59536" y="5742432"/>
            <a:ext cx="10527487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试点成功的标志不是"生成了文档"，而是"一个 Feature 可以从 spec 一路追踪到 Task 和 PR，并被团队稳定复用"。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Spec Kit × GitHub Platform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4748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32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40080" y="36576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预期收益与下一步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C4D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从规范、协作、自动化三个维度收口，形成清晰的决策建议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241280" y="45720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0241280" y="45720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Decision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3484778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640080" y="1609344"/>
            <a:ext cx="73152" cy="3364992"/>
          </a:xfrm>
          <a:prstGeom prst="rect">
            <a:avLst/>
          </a:prstGeom>
          <a:solidFill>
            <a:srgbClr val="14B8A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59536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预期收益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59536" y="1993392"/>
            <a:ext cx="310073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需求到交付链路标准化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生成更可控、更可审计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项目透明度显著提升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任务拆解与执行自动化增强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团队协作成本下降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53458" y="1554480"/>
            <a:ext cx="3484778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53458" y="1609344"/>
            <a:ext cx="73152" cy="3364992"/>
          </a:xfrm>
          <a:prstGeom prst="rect">
            <a:avLst/>
          </a:prstGeom>
          <a:solidFill>
            <a:srgbClr val="0E749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572914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建议决策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914" y="1993392"/>
            <a:ext cx="310073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先在单一试点仓库实现路径 B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优先落地 specify / plan / tasks / implement 四个核心 Agent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路径 A 与 Actions 自动化作为二期增强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066837" y="1554480"/>
            <a:ext cx="3484778" cy="3474720"/>
          </a:xfrm>
          <a:prstGeom prst="roundRect">
            <a:avLst>
              <a:gd name="adj" fmla="val 1579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8899AA">
                <a:alpha val="8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066837" y="1609344"/>
            <a:ext cx="73152" cy="3364992"/>
          </a:xfrm>
          <a:prstGeom prst="rect">
            <a:avLst/>
          </a:prstGeom>
          <a:solidFill>
            <a:srgbClr val="E76F5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286293" y="1682496"/>
            <a:ext cx="310073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下一步动作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86293" y="1993392"/>
            <a:ext cx="3100730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选定试点仓库与责任人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编写 .github/agents/*.agent.md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建立测试 Project Board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运行端到端演练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沉淀操作手册并复制推广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911535" cy="640080"/>
          </a:xfrm>
          <a:prstGeom prst="roundRect">
            <a:avLst>
              <a:gd name="adj" fmla="val 8571"/>
            </a:avLst>
          </a:prstGeom>
          <a:solidFill>
            <a:srgbClr val="1E3A5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640080" y="534924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结论：推荐以"路径 B 先行、路径 C 收口、路径 A 增强"的策略推进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40080" y="647395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C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建议启动试点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0C9D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1339</Words>
  <Application>Microsoft Macintosh PowerPoint</Application>
  <PresentationFormat>宽屏</PresentationFormat>
  <Paragraphs>415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7" baseType="lpstr">
      <vt:lpstr>PingFang SC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Wanke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Spec Kit × GitHub Platform 深度集成方案（双模式）</dc:title>
  <dc:subject>Spec Kit × GitHub Platform 深度集成方案</dc:subject>
  <dc:creator>GitHub Copilot</dc:creator>
  <cp:lastModifiedBy>Qifeng Hou</cp:lastModifiedBy>
  <cp:revision>2</cp:revision>
  <dcterms:created xsi:type="dcterms:W3CDTF">2026-03-10T14:52:51Z</dcterms:created>
  <dcterms:modified xsi:type="dcterms:W3CDTF">2026-03-10T15:59:53Z</dcterms:modified>
</cp:coreProperties>
</file>