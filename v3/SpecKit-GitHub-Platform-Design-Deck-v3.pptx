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21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59114" y="711907"/>
            <a:ext cx="106140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Spec-Driven Development × GitHub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34863" y="16083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深度集成设计方案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59114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Spec-Driven Development 为主线，构建需求、设计、任务、实现与验证的闭环研发体系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75120" y="2545172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675120" y="2600036"/>
            <a:ext cx="73152" cy="80467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949440" y="26823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双模式执行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30023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IDE CLI + 云端 Custom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3688172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675120" y="3743036"/>
            <a:ext cx="73152" cy="80467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949440" y="38253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Agent 体系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41453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按企业场景灵活扩展，不固化数量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4831172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675120" y="4886036"/>
            <a:ext cx="73152" cy="8046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949440" y="49683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统一产出层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52883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Issues / Projects / Milestones / PRs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5303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2026-03-15  ·  战略方案汇报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战略方案汇报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先回答为什么要做，以及这套方案最终要解决什么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607040" y="42062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07040" y="420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Now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29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28163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当前痛点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需求文档、Issue、任务拆解和实现 PR 之间缺乏统一链路，AI 能力难以进入标准流程。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9536" y="2432304"/>
            <a:ext cx="3044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需求变化难同步到执行层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 与技术方案脱节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生成结果缺乏可追溯性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429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251960" y="1609344"/>
            <a:ext cx="73152" cy="281635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471416" y="168249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方案目标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71416" y="19933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SDD 规范驱动开发为核心，将需求、方案、任务与交付统一接入 GitHub 协作对象。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471416" y="2432304"/>
            <a:ext cx="3044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prd / plan / tasks / testplan / PR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支持本地与云端两种执行方式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Coding Agent 进入交付流程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7863840" y="155448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863840" y="1609344"/>
            <a:ext cx="73152" cy="28163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83296" y="168249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83296" y="199339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团队可以用相同规则定义需求、拆解任务、指派 AI 执行，并在 GitHub 上追踪全过程。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083296" y="2432304"/>
            <a:ext cx="32278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追踪到 Epic / Story / Task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可直接指派给 Copilot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与验收标准一一对应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73152" cy="75895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9536" y="488289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" y="5193792"/>
            <a:ext cx="105274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不是再引入一个工具，而是以 SDD 方法论统一研发链路；Spec Kit 是其中关键最佳实践套件之一。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 → 自动化层 → 统一产出层，路径 A / B / C 共用同一套映射规则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89611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Platform 统一产出层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Issues（Epic / Story / Task） ·  Projects（状态与优先级） ·  Milestones（版本） ·  PRs（实现与评审）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371600" y="2834640"/>
            <a:ext cx="9448495" cy="822960"/>
          </a:xfrm>
          <a:prstGeom prst="roundRect">
            <a:avLst>
              <a:gd name="adj" fmla="val 666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371600" y="2889504"/>
            <a:ext cx="73152" cy="7132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591056" y="2962656"/>
            <a:ext cx="9064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自动化编排层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91056" y="3273552"/>
            <a:ext cx="9064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specs/ 变更触发同步  ·  Task merge 后批量 assign Copilot  ·  PR merge 后自动关闭任务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 rot="10800000">
            <a:off x="4069080" y="260604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 rot="10800000">
            <a:off x="5989320" y="260604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 rot="10800000">
            <a:off x="7909560" y="260604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84778" cy="1828800"/>
          </a:xfrm>
          <a:prstGeom prst="roundRect">
            <a:avLst>
              <a:gd name="adj" fmla="val 3000"/>
            </a:avLst>
          </a:prstGeom>
          <a:solidFill>
            <a:srgbClr val="F0FAFA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986784"/>
            <a:ext cx="73152" cy="171907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9536" y="4059936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A · IDE CLI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4370832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规范命令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specs/ 文件产物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同步到 GitHub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291029" y="370332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353458" y="3931920"/>
            <a:ext cx="3484778" cy="1828800"/>
          </a:xfrm>
          <a:prstGeom prst="roundRect">
            <a:avLst>
              <a:gd name="adj" fmla="val 3000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353458" y="3986784"/>
            <a:ext cx="73152" cy="171907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72914" y="4059936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B · Custom Agent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914" y="4370832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 Agent Tab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直接生成 spec / issue / PR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无需本地环境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004408" y="370332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066837" y="3931920"/>
            <a:ext cx="3484778" cy="1828800"/>
          </a:xfrm>
          <a:prstGeom prst="roundRect">
            <a:avLst>
              <a:gd name="adj" fmla="val 3000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066837" y="3986784"/>
            <a:ext cx="73152" cy="17190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86293" y="4059936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C · Hybrid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86293" y="4370832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生成规范产物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执行拆解与实现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推荐落地方式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717786" y="370332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双模式执行路径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A 与路径 B 不互斥，路径 C 是推荐落地方式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0" y="420624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601200" y="420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Modes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84778" cy="4434840"/>
          </a:xfrm>
          <a:prstGeom prst="roundRect">
            <a:avLst>
              <a:gd name="adj" fmla="val 1574"/>
            </a:avLst>
          </a:prstGeom>
          <a:solidFill>
            <a:srgbClr val="F0FAFA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432511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A · IDE CLI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适合架构师与开发人员在本地反复推演。通过 SDD 规范命令生成产物，再同步到 GitHub。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9536" y="2432304"/>
            <a:ext cx="310073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本地可控，适合深度设计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CLI 与扩展能力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更适合生成长期维护文档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支持离线场景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353458" y="1554480"/>
            <a:ext cx="3484778" cy="4434840"/>
          </a:xfrm>
          <a:prstGeom prst="roundRect">
            <a:avLst>
              <a:gd name="adj" fmla="val 1574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609344"/>
            <a:ext cx="73152" cy="432511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914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B · Custom 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914" y="1993392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适合产品经理、项目经理及分布式团队直接在 GitHub.com 上发起需求、拆解任务并让 Coding Agent 执行。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914" y="2615184"/>
            <a:ext cx="310073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无需本地环境，门槛更低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更贴近 Issue / PR 协作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非研发角色可直接使用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原生执行链路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066837" y="1554480"/>
            <a:ext cx="3484778" cy="4434840"/>
          </a:xfrm>
          <a:prstGeom prst="roundRect">
            <a:avLst>
              <a:gd name="adj" fmla="val 1574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66837" y="1609344"/>
            <a:ext cx="73152" cy="43251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86293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C · Hybrid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86293" y="1993392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把高思考密度活动放在本地，把高协作密度活动放在 GitHub。共享统一映射规则与产物格式。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286293" y="2432304"/>
            <a:ext cx="310073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Constitution/Plan 偏本地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Specify/Tasks/Implement 偏云端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交付效率与治理能力兼得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推荐的生产模式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推荐的混合模式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不是二选一，而是把不同角色放到最适合的工作位置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92640" y="42062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692640" y="420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Practice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131113" cy="5486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Constitution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架构师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71193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62633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62633" y="1691640"/>
            <a:ext cx="1131113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862633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Specify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08353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93746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85186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085186" y="1691640"/>
            <a:ext cx="1131113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085186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Clarify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30906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PM/架构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16298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07738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307738" y="1691640"/>
            <a:ext cx="1131113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307738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53458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6115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576115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38851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530291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530291" y="1691640"/>
            <a:ext cx="1131113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530291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6011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PMO/架构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8668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798668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61404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752844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752844" y="1691640"/>
            <a:ext cx="1131113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752844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Testplan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98564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21220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7021220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83957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975397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975397" y="1691640"/>
            <a:ext cx="1131113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975397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21117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开发+AI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106510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9197950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9197950" y="1691640"/>
            <a:ext cx="1131113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9197950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243670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466326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9466326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329062" y="24231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0420502" y="1691640"/>
            <a:ext cx="1131113" cy="246888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0420502" y="1691640"/>
            <a:ext cx="1131113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420502" y="1874520"/>
            <a:ext cx="11311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466222" y="2423160"/>
            <a:ext cx="10396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688879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0688879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0080" y="4617720"/>
            <a:ext cx="10911535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640080" y="489204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640080" y="4946904"/>
            <a:ext cx="73152" cy="71323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59536" y="502005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推荐原因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59536" y="5330952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把"高治理、高结构化"活动前置到 prd/plan，把"高协作、高并行"活动后置到 issue/task/pr。</a:t>
            </a:r>
            <a:endParaRPr lang="en-US" sz="1020" dirty="0"/>
          </a:p>
        </p:txBody>
      </p:sp>
      <p:sp>
        <p:nvSpPr>
          <p:cNvPr id="75" name="Text 73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80" name="Shape 31">
            <a:extLst>
              <a:ext uri="{FF2B5EF4-FFF2-40B4-BE49-F238E27FC236}">
                <a16:creationId xmlns:a16="http://schemas.microsoft.com/office/drawing/2014/main" id="{3CC81B73-1505-0090-C2D8-70AC311CD80D}"/>
              </a:ext>
            </a:extLst>
          </p:cNvPr>
          <p:cNvSpPr/>
          <p:nvPr/>
        </p:nvSpPr>
        <p:spPr>
          <a:xfrm>
            <a:off x="2131314" y="333307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7FF86A5B-96E7-0FDE-20CD-D7A8CFBA5370}"/>
              </a:ext>
            </a:extLst>
          </p:cNvPr>
          <p:cNvSpPr/>
          <p:nvPr/>
        </p:nvSpPr>
        <p:spPr>
          <a:xfrm>
            <a:off x="2131314" y="333307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</a:t>
            </a:r>
            <a:endParaRPr lang="en-US" sz="900" dirty="0"/>
          </a:p>
        </p:txBody>
      </p:sp>
      <p:sp>
        <p:nvSpPr>
          <p:cNvPr id="82" name="Shape 31">
            <a:extLst>
              <a:ext uri="{FF2B5EF4-FFF2-40B4-BE49-F238E27FC236}">
                <a16:creationId xmlns:a16="http://schemas.microsoft.com/office/drawing/2014/main" id="{8883AC6B-7E66-ED29-E31E-541D2BB7370C}"/>
              </a:ext>
            </a:extLst>
          </p:cNvPr>
          <p:cNvSpPr/>
          <p:nvPr/>
        </p:nvSpPr>
        <p:spPr>
          <a:xfrm>
            <a:off x="3370478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E9573CEB-C8DD-E02D-DF6C-BC9CAF3217AD}"/>
              </a:ext>
            </a:extLst>
          </p:cNvPr>
          <p:cNvSpPr/>
          <p:nvPr/>
        </p:nvSpPr>
        <p:spPr>
          <a:xfrm>
            <a:off x="3370478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</a:t>
            </a:r>
            <a:endParaRPr lang="en-US" sz="900" dirty="0"/>
          </a:p>
        </p:txBody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02B0F6C0-39E6-14CF-DD91-F33C17B7256D}"/>
              </a:ext>
            </a:extLst>
          </p:cNvPr>
          <p:cNvSpPr/>
          <p:nvPr/>
        </p:nvSpPr>
        <p:spPr>
          <a:xfrm>
            <a:off x="8260690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DAC5AB12-DD32-193C-5C1A-47F561794474}"/>
              </a:ext>
            </a:extLst>
          </p:cNvPr>
          <p:cNvSpPr/>
          <p:nvPr/>
        </p:nvSpPr>
        <p:spPr>
          <a:xfrm>
            <a:off x="8260690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</a:t>
            </a:r>
            <a:endParaRPr lang="en-US" sz="900" dirty="0"/>
          </a:p>
        </p:txBody>
      </p:sp>
      <p:sp>
        <p:nvSpPr>
          <p:cNvPr id="86" name="Shape 38">
            <a:extLst>
              <a:ext uri="{FF2B5EF4-FFF2-40B4-BE49-F238E27FC236}">
                <a16:creationId xmlns:a16="http://schemas.microsoft.com/office/drawing/2014/main" id="{E3C59E98-03CA-1601-E44F-DAD328134910}"/>
              </a:ext>
            </a:extLst>
          </p:cNvPr>
          <p:cNvSpPr/>
          <p:nvPr/>
        </p:nvSpPr>
        <p:spPr>
          <a:xfrm>
            <a:off x="901927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AC727A6A-7831-FE25-3C4D-4840C1007336}"/>
              </a:ext>
            </a:extLst>
          </p:cNvPr>
          <p:cNvSpPr/>
          <p:nvPr/>
        </p:nvSpPr>
        <p:spPr>
          <a:xfrm>
            <a:off x="901927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团队角色与职责分工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用角色定义保障方案可落地，而不是只有工具没有责任边界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Model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8477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20848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产品经理（PM）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需求定义与验收守门人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9536" y="2359152"/>
            <a:ext cx="310073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需求定义 → specify/prd Agent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需求澄清 → clarify Agent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需求评审 → Review PRD/Spec PR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 → Project Board 管理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353458" y="1554480"/>
            <a:ext cx="348477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609344"/>
            <a:ext cx="73152" cy="208483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914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项目经理（PMO）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914" y="199339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进度管控与资源协调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914" y="2359152"/>
            <a:ext cx="310073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流程编排 → 推动各阶段 Review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进度追踪 → Project Board 监控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里程碑管理 → 关联版本和截止日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资源调度 → Assign Copilot/开发者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066837" y="1554480"/>
            <a:ext cx="348477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66837" y="1609344"/>
            <a:ext cx="73152" cy="20848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86293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架构师（Architect）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86293" y="199339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技术决策与质量保障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286293" y="2359152"/>
            <a:ext cx="310073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项目原则 → constitution Agent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 → plan Agent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数据建模 → data-model/contracts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架构评审 → 关键 PR Review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554480" y="3931920"/>
            <a:ext cx="4480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554480" y="3986784"/>
            <a:ext cx="73152" cy="208483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773936" y="405993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开发人员（Developer）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73936" y="437083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代码实现与质量防线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773936" y="4736592"/>
            <a:ext cx="4096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任务实现 → 按 Task Issue 编码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 → implement Agent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测试编写 → 围绕验收标准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 → Review AI 生成的 PR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172200" y="3931920"/>
            <a:ext cx="4480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172200" y="3986784"/>
            <a:ext cx="73152" cy="2084832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91656" y="405993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质量工程师（QA）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91656" y="437083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测试设计与验证闭环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391656" y="4736592"/>
            <a:ext cx="4096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测试计划 → testplan Agent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测试执行 → 覆盖 AC 与回归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质量反馈 → 缺陷进入 Issue 流转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验收支持 → 输出验证结论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× SDD 阶段职责矩阵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RACI 明确谁负责执行、谁审批、谁咨询、谁被知会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607040" y="42062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07040" y="4206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RACI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7589520" cy="4389121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项目经理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开发人员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工程师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Constitution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Specify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Clarify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Analyze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Tasks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Testplan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Implement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Verify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549640" y="1572768"/>
            <a:ext cx="2971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549640" y="1627632"/>
            <a:ext cx="73152" cy="126187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769096" y="170078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RACI 说明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69096" y="201168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Responsible 执行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Accountable 审批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Consulted 咨询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Informed 知会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549640" y="315468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8549640" y="3209544"/>
            <a:ext cx="73152" cy="112471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769096" y="32826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管理含义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69096" y="3593592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需求由 PM 负责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方案由架构负责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执行由开发主导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验证由 QA 协同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549640" y="4617720"/>
            <a:ext cx="2971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549640" y="4672584"/>
            <a:ext cx="73152" cy="9418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8769096" y="474573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69096" y="5056632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将角色映射到 Agent 与仓库权限，避免职责重叠与责任空白。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Agent 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按阶段组合 Agent，不固定数量；根据企业场景灵活增删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58400" y="42062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0" y="4206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F0FAFA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73152" cy="133502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700784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constitution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2011680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项目原则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constitution.md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53458" y="1572768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353458" y="1627632"/>
            <a:ext cx="73152" cy="1335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72914" y="1700784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specify/prd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914" y="2011680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需求定义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prd.md/spec.md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066837" y="1572768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066837" y="1627632"/>
            <a:ext cx="73152" cy="133502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86293" y="1700784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clarify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6293" y="2011680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需求澄清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更新需求文档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080" y="3182112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3236976"/>
            <a:ext cx="73152" cy="1335024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9536" y="3310128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3621024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plan.md/contracts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353458" y="3182112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FBFA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353458" y="3236976"/>
            <a:ext cx="73152" cy="1335024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72914" y="3310128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analyze（可选）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914" y="3621024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只读一致性分析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不直接写入产物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066837" y="3182112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066837" y="3236976"/>
            <a:ext cx="73152" cy="1335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286293" y="3310128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86293" y="3621024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tasks.md + issues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03504" y="5019299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F0FAFA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40080" y="4846320"/>
            <a:ext cx="73152" cy="133502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9536" y="4919472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testplan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" y="5230368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测试计划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testplan.md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353458" y="4791456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353458" y="4846320"/>
            <a:ext cx="73152" cy="1335024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572914" y="4919472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914" y="5230368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代码实现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PR + 状态更新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066837" y="4791456"/>
            <a:ext cx="3484778" cy="1444752"/>
          </a:xfrm>
          <a:prstGeom prst="roundRect">
            <a:avLst>
              <a:gd name="adj" fmla="val 3797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066837" y="4846320"/>
            <a:ext cx="73152" cy="133502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286293" y="4919472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86293" y="5230368"/>
            <a:ext cx="310073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输出审查结论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75488" y="6238805"/>
            <a:ext cx="10911535" cy="594360"/>
          </a:xfrm>
          <a:prstGeom prst="roundRect">
            <a:avLst>
              <a:gd name="adj" fmla="val 9231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40080" y="5522976"/>
            <a:ext cx="73152" cy="48463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59536" y="5596128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8193" y="6600886"/>
            <a:ext cx="10527487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本页给出统一能力地图：可采用 speckit-* 命名或角色动作命名，关键是输入输出与门控一致。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640080" y="640004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产物 × GitHub 对象映射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文档驱动，GitHub</a:t>
            </a: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执行；需求、方案、任务、验证全链路可追踪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241280" y="42062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0" y="4206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Mapping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500386"/>
              </p:ext>
            </p:extLst>
          </p:nvPr>
        </p:nvGraphicFramePr>
        <p:xfrm>
          <a:off x="640080" y="1572768"/>
          <a:ext cx="10911535" cy="3474723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SDD 阶段 / Agent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文档产物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 对象与规则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specify/prd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prd.md / spec.md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</a:t>
                      </a:r>
                      <a:r>
                        <a:rPr lang="en-US" sz="1050" dirty="0" err="1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同步</a:t>
                      </a: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Epic + Story Issues；验收标准转为 checklist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clarify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 prd.md / spec.md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针对不明确项创建或更新 needs-clarification Issue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plan.md + contracts + data-model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创建/</a:t>
                      </a:r>
                      <a:r>
                        <a:rPr lang="en-US" sz="1050" dirty="0" err="1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</a:t>
                      </a:r>
                      <a:r>
                        <a:rPr lang="zh-CN" alt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对应的技术方案文档、</a:t>
                      </a:r>
                      <a:r>
                        <a:rPr lang="en-US" altLang="zh-CN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Project Board</a:t>
                      </a:r>
                      <a:r>
                        <a:rPr lang="zh-CN" alt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、</a:t>
                      </a: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Milestone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tasks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tasks.md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批量创建 Task Issues，标记优先级/并行/依赖并进入 Board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testplan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testplan.md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Project 中追踪测试覆盖与验证状态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implement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代码与测试变更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 PR，回写 Issue 状态并关联 Milestone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248656"/>
            <a:ext cx="5318608" cy="749808"/>
          </a:xfrm>
          <a:prstGeom prst="roundRect">
            <a:avLst>
              <a:gd name="adj" fmla="val 731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7"/>
          <p:cNvSpPr/>
          <p:nvPr/>
        </p:nvSpPr>
        <p:spPr>
          <a:xfrm>
            <a:off x="640080" y="5303520"/>
            <a:ext cx="73152" cy="6400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59536" y="5376672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关键幂等策略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536" y="5687568"/>
            <a:ext cx="493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 body 写入唯一元数据（feature/task 标识），重复同步仅更新不重复创建。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6233008" y="5248656"/>
            <a:ext cx="5318608" cy="749808"/>
          </a:xfrm>
          <a:prstGeom prst="roundRect">
            <a:avLst>
              <a:gd name="adj" fmla="val 7317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233008" y="5303520"/>
            <a:ext cx="73152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452464" y="5376672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对交付质量的价值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52464" y="5687568"/>
            <a:ext cx="493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Issue 携带 prd/plan/contracts/testplan 上下文，提升 AI 实现和 Review 质量。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端到端工作流示例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 QA 闭环：测试计划并行生成，验证前置；不显式依赖 bug-report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58400" y="42062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0" y="420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18272" y="164592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18272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需求输入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 通过 specify/prd Agent 输入业务需求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162224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14736" y="1645920"/>
            <a:ext cx="365760" cy="36576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14736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36544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生成需求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7984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prd/spec 并同步 Epic/Story Issues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95868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1200" y="164592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112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3008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4448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架构师运行 plan，补齐 contracts/data-model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755151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107663" y="1645920"/>
            <a:ext cx="365760" cy="36576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107663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29471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20911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生成 tasks.md 并创建 Task Issues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958688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718272" y="35661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718272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测试计划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34340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并行生成 testplan.md 并关联验收标准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316222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514736" y="356616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514736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36544" y="402336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指派实现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7984" y="434340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 将可执行任务 assign 给 Copilot/开发者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595868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311200" y="3566160"/>
            <a:ext cx="365760" cy="36576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311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33008" y="402336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PR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24448" y="434340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 生成代码与测试 PR 并回写状态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755151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107663" y="35661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107663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29471" y="402336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验证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20911" y="434340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testplan 验证后进入 Review 与合并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40080" y="5212080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40080" y="5266944"/>
            <a:ext cx="73152" cy="62179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59536" y="534009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59536" y="5650992"/>
            <a:ext cx="105274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需求不止停留在文档，而是在 Issue / Task / PR 链路持续验证，最终由 QA 与验收标准共同回收。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分五个阶段推进，优先实现成本更低、价值更高的路径 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58400" y="42062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0" y="420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73152" cy="2359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设计与门控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定义核心 .agent.md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prompt 与人工门控规则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20922" y="4480560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520922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8963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858963" y="1700784"/>
            <a:ext cx="73152" cy="235915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041843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041843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41843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产物落地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41843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 prd/plan/tasks/testplan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打通文档与仓库结构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39805" y="448056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739805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7846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077846" y="1700784"/>
            <a:ext cx="73152" cy="2359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260726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260726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60726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Actions 自动化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0726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变更同步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自动 assign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自动关单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58688" y="448056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58688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729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296729" y="1700784"/>
            <a:ext cx="73152" cy="235915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479609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479609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79609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Projects 模板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79609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Board/Table 视图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字段规范化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77571" y="4480560"/>
            <a:ext cx="274320" cy="27432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177571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515612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9515612" y="1700784"/>
            <a:ext cx="73152" cy="2359152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9698492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698492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8492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验证与推广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98492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试点运行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幂等验证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文档沉淀与推广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396454" y="4480560"/>
            <a:ext cx="274320" cy="27432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396454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658082" y="4617720"/>
            <a:ext cx="8875532" cy="0"/>
          </a:xfrm>
          <a:prstGeom prst="line">
            <a:avLst/>
          </a:prstGeom>
          <a:noFill/>
          <a:ln w="254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40080" y="512064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40080" y="5175504"/>
            <a:ext cx="73152" cy="7132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59536" y="524865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优先级建议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59536" y="5559552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先做路径 B：优先验证 SDD 在 GitHub 的闭环价值；路径 A 与 Actions 作为增量增强。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验证方案与关键风险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同时证明"能跑通"和"可持续"，验证与风险要一起设计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318608" cy="3474720"/>
          </a:xfrm>
          <a:prstGeom prst="roundRect">
            <a:avLst>
              <a:gd name="adj" fmla="val 1579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33649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建议在测试仓库按最短路径完成 5 类验证：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9536" y="2359152"/>
            <a:ext cx="49345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 Agent 验证：specify / plan / tasks / implement 依次跑通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同步验证：/speckit.gh-sync 正确创建或更新对象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幂等验证：多次同步不重复创建 Issue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混合模式验证：A 生成 spec，B 读取并创建 tasks 与 PR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验证：testplan 与验收标准覆盖矩阵一致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233008" y="1554480"/>
            <a:ext cx="5318608" cy="3474720"/>
          </a:xfrm>
          <a:prstGeom prst="roundRect">
            <a:avLst>
              <a:gd name="adj" fmla="val 1579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33008" y="1609344"/>
            <a:ext cx="73152" cy="33649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52464" y="168249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关键风险与限制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52464" y="1993392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需要关注的技术与流程风险：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452464" y="2359152"/>
            <a:ext cx="49345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github/* 写权限依赖仓库配置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双向同步先不做，避免复杂度过早上升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跨仓库协同与 Packages/Releases 暂不纳入一期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流程门控执行不到位会导致批量写入风险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5358384"/>
            <a:ext cx="73152" cy="62179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9536" y="543153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5742432"/>
            <a:ext cx="105274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试点成功不是“生成了文档”，而是“一个 Feature 可从 prd/spec 追踪到 Task 与 PR，并被团队稳定复用”。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× GitHub Platform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预期收益与下一步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从规范、协作、自动化三个维度收口，形成清晰的决策建议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4572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241280" y="4572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84778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9344"/>
            <a:ext cx="73152" cy="33649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9536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预期收益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1993392"/>
            <a:ext cx="310073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需求到交付链路标准化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生成更可控、更可审计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项目透明度显著提升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任务拆解与执行自动化增强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团队协作成本下降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353458" y="1554480"/>
            <a:ext cx="3484778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53458" y="1609344"/>
            <a:ext cx="73152" cy="336499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914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建议决策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914" y="1993392"/>
            <a:ext cx="310073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先在单一试点仓库实现路径 B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优先落地 specify/prd / plan / tasks / testplan / implement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A 与 Actions 自动化作为二期增强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66837" y="1554480"/>
            <a:ext cx="3484778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66837" y="1609344"/>
            <a:ext cx="73152" cy="33649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86293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下一步动作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86293" y="1993392"/>
            <a:ext cx="310073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选定试点仓库与责任人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 .github/agents/*.agent.md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建立测试 Project Board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运行端到端演练</a:t>
            </a:r>
            <a:endParaRPr lang="en-US" sz="9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沉淀操作手册并复制推广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11535" cy="640080"/>
          </a:xfrm>
          <a:prstGeom prst="roundRect">
            <a:avLst>
              <a:gd name="adj" fmla="val 8571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结论：推荐以"路径 B 先行、路径 C 收口、路径 A 增强"的策略推进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建议启动试点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1270</Words>
  <Application>Microsoft Office PowerPoint</Application>
  <PresentationFormat>宽屏</PresentationFormat>
  <Paragraphs>430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Wanke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 × GitHub Platform 深度集成方案（v3）</dc:title>
  <dc:subject>Spec-Driven Development × GitHub Platform 深度集成方案</dc:subject>
  <dc:creator>GitHub Copilot</dc:creator>
  <cp:lastModifiedBy>石德平</cp:lastModifiedBy>
  <cp:revision>6</cp:revision>
  <dcterms:created xsi:type="dcterms:W3CDTF">2026-03-15T10:51:38Z</dcterms:created>
  <dcterms:modified xsi:type="dcterms:W3CDTF">2026-03-16T02:06:49Z</dcterms:modified>
</cp:coreProperties>
</file>